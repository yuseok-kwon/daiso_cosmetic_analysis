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28"/>
    <p:restoredTop sz="94610"/>
  </p:normalViewPr>
  <p:slideViewPr>
    <p:cSldViewPr snapToGrid="0" snapToObjects="1">
      <p:cViewPr varScale="1">
        <p:scale>
          <a:sx n="184" d="100"/>
          <a:sy n="184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81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8497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6451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6893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2348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08901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6784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0073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0056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2234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0980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535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1396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05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hf sldNum="0"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0000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다이소 뷰티 제품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ECF0F1"/>
                </a:solidFill>
              </a:rPr>
              <a:t>데이터 분석 리포트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DC3C7"/>
                </a:solidFill>
              </a:rPr>
              <a:t>Why-pi 프로젝트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카테고리별 상품 수 분석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카테고리별 상품 수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649" y="822960"/>
            <a:ext cx="6156702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다이소 뷰티 제품의 카테고리별 분포를 보여주는 차트입니다.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각 대분류 카테고리에 속한 제품 수를 시각화하여 제품 라인업의 구성을 파악할 수 있습니다.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이를 통해 다이소가 어떤 카테고리에 더 많은 제품을 보유하고 있는지 확인할 수 있으며, </a:t>
            </a:r>
          </a:p>
          <a:p>
            <a:pPr marL="0" indent="0">
              <a:lnSpc>
                <a:spcPts val="2000"/>
              </a:lnSpc>
              <a:buNone/>
            </a:pPr>
            <a:r>
              <a:rPr lang="ko-KR" altLang="en-US" sz="1400" dirty="0">
                <a:solidFill>
                  <a:srgbClr val="2C3E50"/>
                </a:solidFill>
              </a:rPr>
              <a:t>   </a:t>
            </a:r>
            <a:r>
              <a:rPr lang="en-US" sz="1400" dirty="0" err="1">
                <a:solidFill>
                  <a:srgbClr val="2C3E50"/>
                </a:solidFill>
              </a:rPr>
              <a:t>제품</a:t>
            </a:r>
            <a:r>
              <a:rPr lang="en-US" sz="1400" dirty="0">
                <a:solidFill>
                  <a:srgbClr val="2C3E50"/>
                </a:solidFill>
              </a:rPr>
              <a:t> 포트폴리오의 균형을 평가할 수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Engagement Score 분포 분석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Engagement Score 분포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649" y="822960"/>
            <a:ext cx="6156702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제품별 Engagement Score의 분포를 히스토그램으로 표현한 차트입니다.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Engagement Score는 좋아요, 공유 등 사용자 참여도를 종합한 지표입니다.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대부분의 제품이 낮은 engagement를 보이며, 소수의 제품만이 높은 참여도를 기록하는 것을 확인할 수 있습니다.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이는 일부 인기 제품에 사용자 관심이 집중되는 경향을 보여줍니다.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브랜드별 평균 Engagement Score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브랜드별 평균 Engagement 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296" y="822960"/>
            <a:ext cx="4081409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각 브랜드의 평균 Engagement Score를 비교한 막대 차트입니다.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브랜드별로 사용자 참여도에 큰 차이가 있음을 보여줍니다.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상위 브랜드는 높은 고객 충성도와 제품 만족도를 나타내며, 마케팅 전략의 효과를 반영합니다.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브랜드 포지셔닝과 제품 품질이 engagement에 미치는 영향을 분석할 수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별점별 리뷰 길이 분석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별점별 리뷰 길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649" y="822960"/>
            <a:ext cx="6156702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별점(1~5점)에 따른 리뷰 텍스트 길이를 박스 플롯으로 비교한 차트입니다.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일반적으로 극단적인 평가(1점)일수록 더 긴 리뷰를 작성하는 경향이 있습니다.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불만족한 고객(1점) </a:t>
            </a:r>
            <a:r>
              <a:rPr lang="en-US" sz="1400" dirty="0" err="1">
                <a:solidFill>
                  <a:srgbClr val="2C3E50"/>
                </a:solidFill>
              </a:rPr>
              <a:t>은</a:t>
            </a:r>
            <a:r>
              <a:rPr lang="en-US" sz="1400" dirty="0">
                <a:solidFill>
                  <a:srgbClr val="2C3E50"/>
                </a:solidFill>
              </a:rPr>
              <a:t> 자신의 경험을 상세히 공유하려는 </a:t>
            </a:r>
            <a:r>
              <a:rPr lang="en-US" sz="1400" dirty="0" err="1">
                <a:solidFill>
                  <a:srgbClr val="2C3E50"/>
                </a:solidFill>
              </a:rPr>
              <a:t>동기가</a:t>
            </a:r>
            <a:r>
              <a:rPr lang="en-US" sz="1400" dirty="0">
                <a:solidFill>
                  <a:srgbClr val="2C3E50"/>
                </a:solidFill>
              </a:rPr>
              <a:t> </a:t>
            </a:r>
            <a:r>
              <a:rPr lang="en-US" sz="1400" dirty="0" err="1">
                <a:solidFill>
                  <a:srgbClr val="2C3E50"/>
                </a:solidFill>
              </a:rPr>
              <a:t>강</a:t>
            </a:r>
            <a:r>
              <a:rPr lang="ko-KR" altLang="en-US" sz="1400" dirty="0">
                <a:solidFill>
                  <a:srgbClr val="2C3E50"/>
                </a:solidFill>
              </a:rPr>
              <a:t>한 것으로 예측됩니다</a:t>
            </a:r>
            <a:r>
              <a:rPr lang="en-US" altLang="ko-KR" sz="1400" dirty="0">
                <a:solidFill>
                  <a:srgbClr val="2C3E50"/>
                </a:solidFill>
              </a:rPr>
              <a:t>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</a:t>
            </a:r>
            <a:r>
              <a:rPr lang="en-US" altLang="ko-KR" sz="1400" dirty="0">
                <a:solidFill>
                  <a:srgbClr val="2C3E50"/>
                </a:solidFill>
              </a:rPr>
              <a:t>5</a:t>
            </a:r>
            <a:r>
              <a:rPr lang="ko-KR" altLang="en-US" sz="1400" dirty="0">
                <a:solidFill>
                  <a:srgbClr val="2C3E50"/>
                </a:solidFill>
              </a:rPr>
              <a:t>점으로 갈 수록 점점 리뷰길이가 짧아지는 경향을 보입니다</a:t>
            </a:r>
            <a:r>
              <a:rPr lang="en-US" altLang="ko-KR" sz="1400" dirty="0">
                <a:solidFill>
                  <a:srgbClr val="2C3E50"/>
                </a:solidFill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브랜드별 평균 좋아요/공유 수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브랜드별 평균 좋아요:공유 수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872" y="695498"/>
            <a:ext cx="5266255" cy="29496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90604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각 브랜드별 리뷰에 대한 평균 좋아요 수와 공유 수를 비교한 차트입니다.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브랜드별로 소셜 </a:t>
            </a:r>
            <a:r>
              <a:rPr lang="en-US" sz="1400" dirty="0" err="1">
                <a:solidFill>
                  <a:srgbClr val="2C3E50"/>
                </a:solidFill>
              </a:rPr>
              <a:t>반응</a:t>
            </a:r>
            <a:r>
              <a:rPr lang="en-US" sz="1400" dirty="0">
                <a:solidFill>
                  <a:srgbClr val="2C3E50"/>
                </a:solidFill>
              </a:rPr>
              <a:t>(</a:t>
            </a:r>
            <a:r>
              <a:rPr lang="ko-KR" altLang="en-US" sz="1400" dirty="0">
                <a:solidFill>
                  <a:srgbClr val="2C3E50"/>
                </a:solidFill>
              </a:rPr>
              <a:t>특히 </a:t>
            </a:r>
            <a:r>
              <a:rPr lang="en-US" sz="1400" dirty="0" err="1">
                <a:solidFill>
                  <a:srgbClr val="2C3E50"/>
                </a:solidFill>
              </a:rPr>
              <a:t>공유</a:t>
            </a:r>
            <a:r>
              <a:rPr lang="en-US" sz="1400" dirty="0">
                <a:solidFill>
                  <a:srgbClr val="2C3E50"/>
                </a:solidFill>
              </a:rPr>
              <a:t>)에 큰 차이가 있음을 보여줍니다.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높은 소셜 반응을 보이는 </a:t>
            </a:r>
            <a:r>
              <a:rPr lang="en-US" sz="1400" dirty="0" err="1">
                <a:solidFill>
                  <a:srgbClr val="2C3E50"/>
                </a:solidFill>
              </a:rPr>
              <a:t>브랜드는</a:t>
            </a:r>
            <a:r>
              <a:rPr lang="en-US" sz="1400" dirty="0">
                <a:solidFill>
                  <a:srgbClr val="2C3E50"/>
                </a:solidFill>
              </a:rPr>
              <a:t> </a:t>
            </a:r>
            <a:r>
              <a:rPr lang="en-US" sz="1400" dirty="0" err="1">
                <a:solidFill>
                  <a:srgbClr val="2C3E50"/>
                </a:solidFill>
              </a:rPr>
              <a:t>커뮤니티</a:t>
            </a:r>
            <a:r>
              <a:rPr lang="ko-KR" altLang="en-US" sz="1400">
                <a:solidFill>
                  <a:srgbClr val="2C3E50"/>
                </a:solidFill>
              </a:rPr>
              <a:t> 등</a:t>
            </a:r>
            <a:r>
              <a:rPr lang="en-US" sz="1400">
                <a:solidFill>
                  <a:srgbClr val="2C3E50"/>
                </a:solidFill>
              </a:rPr>
              <a:t>에서</a:t>
            </a:r>
            <a:r>
              <a:rPr lang="en-US" sz="1400" dirty="0">
                <a:solidFill>
                  <a:srgbClr val="2C3E50"/>
                </a:solidFill>
              </a:rPr>
              <a:t> 화제성이 높고 바이럴 효과가 큰 것을 </a:t>
            </a:r>
            <a:r>
              <a:rPr lang="en-US" sz="1400" dirty="0" err="1">
                <a:solidFill>
                  <a:srgbClr val="2C3E50"/>
                </a:solidFill>
              </a:rPr>
              <a:t>의미합니다</a:t>
            </a:r>
            <a:r>
              <a:rPr lang="en-US" sz="1400" dirty="0">
                <a:solidFill>
                  <a:srgbClr val="2C3E50"/>
                </a:solidFill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좋아요/공유 분포 - 로렌츠 곡선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좋아요:공유 분포 - 로렌츠 곡선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649" y="822960"/>
            <a:ext cx="6156702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좋아요와 공유의 집중도를 로렌츠 곡선으로 표현한 차트입니다.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로렌츠 곡선이 대각선에서 멀어질수록 불평등도(집중도)가 높음을 의미합니다.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</a:t>
            </a:r>
            <a:r>
              <a:rPr lang="en-US" sz="1400" dirty="0" err="1">
                <a:solidFill>
                  <a:srgbClr val="2C3E50"/>
                </a:solidFill>
              </a:rPr>
              <a:t>소수의</a:t>
            </a:r>
            <a:r>
              <a:rPr lang="en-US" sz="1400" dirty="0">
                <a:solidFill>
                  <a:srgbClr val="2C3E50"/>
                </a:solidFill>
              </a:rPr>
              <a:t> </a:t>
            </a:r>
            <a:r>
              <a:rPr lang="ko-KR" altLang="en-US" sz="1400" dirty="0">
                <a:solidFill>
                  <a:srgbClr val="2C3E50"/>
                </a:solidFill>
              </a:rPr>
              <a:t>브랜드</a:t>
            </a:r>
            <a:r>
              <a:rPr lang="en-US" sz="1400" dirty="0" err="1">
                <a:solidFill>
                  <a:srgbClr val="2C3E50"/>
                </a:solidFill>
              </a:rPr>
              <a:t>가</a:t>
            </a:r>
            <a:r>
              <a:rPr lang="en-US" sz="1400" dirty="0">
                <a:solidFill>
                  <a:srgbClr val="2C3E50"/>
                </a:solidFill>
              </a:rPr>
              <a:t> 전체 좋아요/</a:t>
            </a:r>
            <a:r>
              <a:rPr lang="en-US" sz="1400" dirty="0" err="1">
                <a:solidFill>
                  <a:srgbClr val="2C3E50"/>
                </a:solidFill>
              </a:rPr>
              <a:t>공유의</a:t>
            </a:r>
            <a:r>
              <a:rPr lang="en-US" sz="1400" dirty="0">
                <a:solidFill>
                  <a:srgbClr val="2C3E50"/>
                </a:solidFill>
              </a:rPr>
              <a:t> </a:t>
            </a:r>
            <a:r>
              <a:rPr lang="en-US" sz="1400" dirty="0" err="1">
                <a:solidFill>
                  <a:srgbClr val="2C3E50"/>
                </a:solidFill>
              </a:rPr>
              <a:t>대</a:t>
            </a:r>
            <a:r>
              <a:rPr lang="ko-KR" altLang="en-US" sz="1400" dirty="0">
                <a:solidFill>
                  <a:srgbClr val="2C3E50"/>
                </a:solidFill>
              </a:rPr>
              <a:t>다수를</a:t>
            </a:r>
            <a:r>
              <a:rPr lang="en-US" sz="1400" dirty="0">
                <a:solidFill>
                  <a:srgbClr val="2C3E50"/>
                </a:solidFill>
              </a:rPr>
              <a:t> 차지하는 불균형 구조를 보여줍니다.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이는 소수의 인기 제품이나 영향력 </a:t>
            </a:r>
            <a:r>
              <a:rPr lang="en-US" sz="1400" dirty="0" err="1">
                <a:solidFill>
                  <a:srgbClr val="2C3E50"/>
                </a:solidFill>
              </a:rPr>
              <a:t>있는</a:t>
            </a:r>
            <a:r>
              <a:rPr lang="en-US" sz="1400" dirty="0">
                <a:solidFill>
                  <a:srgbClr val="2C3E50"/>
                </a:solidFill>
              </a:rPr>
              <a:t> </a:t>
            </a:r>
            <a:r>
              <a:rPr lang="ko-KR" altLang="en-US" sz="1400" dirty="0">
                <a:solidFill>
                  <a:srgbClr val="2C3E50"/>
                </a:solidFill>
              </a:rPr>
              <a:t>브랜드</a:t>
            </a:r>
            <a:r>
              <a:rPr lang="en-US" sz="1400" dirty="0" err="1">
                <a:solidFill>
                  <a:srgbClr val="2C3E50"/>
                </a:solidFill>
              </a:rPr>
              <a:t>가</a:t>
            </a:r>
            <a:r>
              <a:rPr lang="en-US" sz="1400" dirty="0">
                <a:solidFill>
                  <a:srgbClr val="2C3E50"/>
                </a:solidFill>
              </a:rPr>
              <a:t> </a:t>
            </a:r>
            <a:r>
              <a:rPr lang="en-US" sz="1400" dirty="0" err="1">
                <a:solidFill>
                  <a:srgbClr val="2C3E50"/>
                </a:solidFill>
              </a:rPr>
              <a:t>전체를</a:t>
            </a:r>
            <a:r>
              <a:rPr lang="en-US" sz="1400" dirty="0">
                <a:solidFill>
                  <a:srgbClr val="2C3E50"/>
                </a:solidFill>
              </a:rPr>
              <a:t> 주도하는 현상을 나타냅니다.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1점/5점 리뷰 워드클라우드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1점 :5점 리뷰 워드클라우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906" y="822960"/>
            <a:ext cx="5722189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최저 평점(1점)과 최고 평점(5점) 리뷰에서 자주 등장하는 단어를 워드클라우드로 시각화했습니다.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1점 리뷰에서는 </a:t>
            </a:r>
            <a:r>
              <a:rPr lang="en-US" sz="1400" dirty="0" err="1">
                <a:solidFill>
                  <a:srgbClr val="2C3E50"/>
                </a:solidFill>
              </a:rPr>
              <a:t>불만</a:t>
            </a:r>
            <a:r>
              <a:rPr lang="en-US" sz="1400" dirty="0">
                <a:solidFill>
                  <a:srgbClr val="2C3E50"/>
                </a:solidFill>
              </a:rPr>
              <a:t> </a:t>
            </a:r>
            <a:r>
              <a:rPr lang="en-US" sz="1400" dirty="0" err="1">
                <a:solidFill>
                  <a:srgbClr val="2C3E50"/>
                </a:solidFill>
              </a:rPr>
              <a:t>사항</a:t>
            </a:r>
            <a:r>
              <a:rPr lang="ko-KR" altLang="en-US" sz="1400" dirty="0">
                <a:solidFill>
                  <a:srgbClr val="2C3E50"/>
                </a:solidFill>
              </a:rPr>
              <a:t>을 예측해 볼법한 키워드</a:t>
            </a:r>
            <a:r>
              <a:rPr lang="en-US" sz="1400" dirty="0">
                <a:solidFill>
                  <a:srgbClr val="2C3E50"/>
                </a:solidFill>
              </a:rPr>
              <a:t>(예: </a:t>
            </a:r>
            <a:r>
              <a:rPr lang="ko-KR" altLang="en-US" sz="1400" dirty="0">
                <a:solidFill>
                  <a:srgbClr val="2C3E50"/>
                </a:solidFill>
              </a:rPr>
              <a:t>배송</a:t>
            </a:r>
            <a:r>
              <a:rPr lang="en-US" altLang="ko-KR" sz="1400" dirty="0">
                <a:solidFill>
                  <a:srgbClr val="2C3E50"/>
                </a:solidFill>
              </a:rPr>
              <a:t>,</a:t>
            </a:r>
            <a:r>
              <a:rPr lang="ko-KR" altLang="en-US" sz="1400" dirty="0">
                <a:solidFill>
                  <a:srgbClr val="2C3E50"/>
                </a:solidFill>
              </a:rPr>
              <a:t> 없다</a:t>
            </a:r>
            <a:r>
              <a:rPr lang="en-US" altLang="ko-KR" sz="1400" dirty="0">
                <a:solidFill>
                  <a:srgbClr val="2C3E50"/>
                </a:solidFill>
              </a:rPr>
              <a:t>,</a:t>
            </a:r>
            <a:r>
              <a:rPr lang="ko-KR" altLang="en-US" sz="1400" dirty="0">
                <a:solidFill>
                  <a:srgbClr val="2C3E50"/>
                </a:solidFill>
              </a:rPr>
              <a:t> 아니다 </a:t>
            </a:r>
            <a:r>
              <a:rPr lang="en-US" sz="1400" dirty="0" err="1">
                <a:solidFill>
                  <a:srgbClr val="2C3E50"/>
                </a:solidFill>
              </a:rPr>
              <a:t>등</a:t>
            </a:r>
            <a:r>
              <a:rPr lang="en-US" sz="1400" dirty="0">
                <a:solidFill>
                  <a:srgbClr val="2C3E50"/>
                </a:solidFill>
              </a:rPr>
              <a:t>)가 크게 나타납니다.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5점 리뷰에서는 긍정적인 표현과 만족도 관련 키워드(예: </a:t>
            </a:r>
            <a:r>
              <a:rPr lang="ko-KR" altLang="en-US" sz="1400" dirty="0">
                <a:solidFill>
                  <a:srgbClr val="2C3E50"/>
                </a:solidFill>
              </a:rPr>
              <a:t>좋다</a:t>
            </a:r>
            <a:r>
              <a:rPr lang="en-US" altLang="ko-KR" sz="1400" dirty="0">
                <a:solidFill>
                  <a:srgbClr val="2C3E50"/>
                </a:solidFill>
              </a:rPr>
              <a:t>,</a:t>
            </a:r>
            <a:r>
              <a:rPr lang="ko-KR" altLang="en-US" sz="1400" dirty="0">
                <a:solidFill>
                  <a:srgbClr val="2C3E50"/>
                </a:solidFill>
              </a:rPr>
              <a:t> 사용</a:t>
            </a:r>
            <a:r>
              <a:rPr lang="en-US" altLang="ko-KR" sz="1400" dirty="0">
                <a:solidFill>
                  <a:srgbClr val="2C3E50"/>
                </a:solidFill>
              </a:rPr>
              <a:t>,</a:t>
            </a:r>
            <a:r>
              <a:rPr lang="ko-KR" altLang="en-US" sz="1400" dirty="0">
                <a:solidFill>
                  <a:srgbClr val="2C3E50"/>
                </a:solidFill>
              </a:rPr>
              <a:t> 괜찮다 </a:t>
            </a:r>
            <a:r>
              <a:rPr lang="en-US" sz="1400" dirty="0" err="1">
                <a:solidFill>
                  <a:srgbClr val="2C3E50"/>
                </a:solidFill>
              </a:rPr>
              <a:t>등</a:t>
            </a:r>
            <a:r>
              <a:rPr lang="en-US" sz="1400" dirty="0">
                <a:solidFill>
                  <a:srgbClr val="2C3E50"/>
                </a:solidFill>
              </a:rPr>
              <a:t>)가 두드러집니다.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</a:t>
            </a:r>
            <a:r>
              <a:rPr lang="ko-KR" altLang="en-US" sz="1400" dirty="0">
                <a:solidFill>
                  <a:srgbClr val="2C3E50"/>
                </a:solidFill>
              </a:rPr>
              <a:t>전체적인 흐름정도를 이해하는데 적절한 시각화 자료입니다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재구매 관련 기본 EDA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재구매 관련 기본 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392" y="777240"/>
            <a:ext cx="4070669" cy="30494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82666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재구매 여부에 대한 기본 통계와 분포를 보여주는 여러 차트의 조합입니다.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전체 고객 중 재구매 고객의 비율과 신규 구매 고객의 비율을 비교합니다.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</a:t>
            </a:r>
            <a:r>
              <a:rPr lang="ko-KR" altLang="en-US" sz="1400" dirty="0" err="1">
                <a:solidFill>
                  <a:srgbClr val="2C3E50"/>
                </a:solidFill>
              </a:rPr>
              <a:t>기초스킨케어에서의</a:t>
            </a:r>
            <a:r>
              <a:rPr lang="ko-KR" altLang="en-US" sz="1400" dirty="0">
                <a:solidFill>
                  <a:srgbClr val="2C3E50"/>
                </a:solidFill>
              </a:rPr>
              <a:t> 재구매율이 압도적인 것을 볼 수 있습니다</a:t>
            </a:r>
            <a:r>
              <a:rPr lang="en-US" altLang="ko-KR" sz="1400" dirty="0">
                <a:solidFill>
                  <a:srgbClr val="2C3E50"/>
                </a:solidFill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스테디셀러 제품 분석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스테디셀러 관련 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344" y="822960"/>
            <a:ext cx="5149312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장기간 꾸준히 판매되는 스테디셀러 제품들의 특성을 분석한 </a:t>
            </a:r>
            <a:r>
              <a:rPr lang="en-US" sz="1400" dirty="0" err="1">
                <a:solidFill>
                  <a:srgbClr val="2C3E50"/>
                </a:solidFill>
              </a:rPr>
              <a:t>차트입니다</a:t>
            </a:r>
            <a:r>
              <a:rPr lang="en-US" sz="1400" dirty="0">
                <a:solidFill>
                  <a:srgbClr val="2C3E50"/>
                </a:solidFill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평점 평균-표준편차 사분면 분석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평점 평균-표준편차 사분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737" y="822960"/>
            <a:ext cx="3332527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제품을 평점 평균과 표준편차를 기준으로 4개 사분면으로 분류한 산점도입니다.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고평점-저분산: 일관되게 높은 평가를 받는 우수 제품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고평점-고분산: 평균은 높지만 평가가 엇갈리는 제품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저평점-저분산: 일관되게 낮은 평가를 받는 문제 제품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저평점-고분산: 평가가 극단적으로 갈리는 논란 제품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평점 평균-표준편차 사분면 상세 분석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평점 평균-표준편차 사분면 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71" y="701040"/>
            <a:ext cx="6191658" cy="27487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14403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앞선 사분면 분석을 더욱 상세하게 확장한 차트입니다.</a:t>
            </a:r>
            <a:endParaRPr lang="en-US" sz="1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solidFill>
                  <a:srgbClr val="2C3E50"/>
                </a:solidFill>
              </a:rPr>
              <a:t>• </a:t>
            </a:r>
            <a:r>
              <a:rPr lang="ko-KR" altLang="ko-KR" sz="1400" dirty="0">
                <a:solidFill>
                  <a:srgbClr val="000000"/>
                </a:solidFill>
                <a:latin typeface="Arial" panose="020B0604020202020204" pitchFamily="34" charset="0"/>
              </a:rPr>
              <a:t>Q4 스테디셀러 : 평점이 높고 표준편차가 낮아(만족도가 균일함) 가장 이상적인 제품군입니다. 제품 수도 가장 많고 평균 리뷰 수도 압도적으로 높아 비즈니스의 핵심 자산입니다.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solidFill>
                  <a:srgbClr val="2C3E50"/>
                </a:solidFill>
              </a:rPr>
              <a:t>• </a:t>
            </a:r>
            <a:r>
              <a:rPr lang="ko-KR" altLang="en-US" sz="1400" dirty="0">
                <a:solidFill>
                  <a:srgbClr val="2C3E50"/>
                </a:solidFill>
              </a:rPr>
              <a:t> </a:t>
            </a:r>
            <a:r>
              <a:rPr lang="ko-KR" altLang="ko-KR" sz="1400" dirty="0">
                <a:solidFill>
                  <a:srgbClr val="000000"/>
                </a:solidFill>
                <a:latin typeface="Arial" panose="020B0604020202020204" pitchFamily="34" charset="0"/>
              </a:rPr>
              <a:t>Q2 </a:t>
            </a:r>
            <a:r>
              <a:rPr lang="ko-KR" altLang="ko-K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위험군</a:t>
            </a:r>
            <a:r>
              <a:rPr lang="ko-KR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ko-KR" altLang="ko-KR" sz="1400" dirty="0">
                <a:solidFill>
                  <a:srgbClr val="000000"/>
                </a:solidFill>
                <a:latin typeface="Arial" panose="020B0604020202020204" pitchFamily="34" charset="0"/>
              </a:rPr>
              <a:t>: 평점 편차가 크고 평균 평점이 낮은 제품들로, 고객 불만이 발생할 가능성이 높습니다. 제품 수는 많지만 평균 리뷰 수는 낮아 개선이 시급합니다.</a:t>
            </a:r>
            <a:endParaRPr lang="ko-KR" altLang="ko-KR" sz="1400" dirty="0">
              <a:latin typeface="Arial" panose="020B0604020202020204" pitchFamily="34" charset="0"/>
            </a:endParaRPr>
          </a:p>
          <a:p>
            <a:pPr marL="0" indent="0">
              <a:lnSpc>
                <a:spcPts val="2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Engagement vs 재구매율 사분면 분석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사분면별 Engagement vs 재구매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293" y="822960"/>
            <a:ext cx="4219414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Engagement Score와 재구매율을 두 축으로 하는 2×2 매트릭스입니다.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고Engagement-고재구매율: 가장 성공적인 제품군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고Engagement-저재구매율: 화제성은 높지만 재구매로 이어지지 않는 제품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저Engagement-고재구매율: 조용하지만 충성도 높은 제품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저Engagement-저재구매율: 개선이 시급한 제품군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년도별 재구매 추이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년도별 재구매 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822960"/>
            <a:ext cx="7315200" cy="20731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78974"/>
            <a:ext cx="8229600" cy="20645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연도별 재구매율의 변화를 시계열로 분석한 차트입니다.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시간에 따른 고객 충성도의 변화를 추적할 수 있습니다.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</a:t>
            </a:r>
            <a:r>
              <a:rPr lang="ko-KR" altLang="en-US" sz="1400" dirty="0">
                <a:solidFill>
                  <a:srgbClr val="2C3E50"/>
                </a:solidFill>
              </a:rPr>
              <a:t> 시간에 따른 재구매율의 감소가 보이는 것을 보입니다</a:t>
            </a:r>
            <a:r>
              <a:rPr lang="en-US" altLang="ko-KR" sz="1400" dirty="0">
                <a:solidFill>
                  <a:srgbClr val="2C3E50"/>
                </a:solidFill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대분류 카테고리별 재구매율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대분류 카테고리별 재구매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834" y="822960"/>
            <a:ext cx="3820332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제품 대분류 카테고리별로 재구매율을 비교한 막대 차트입니다.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카테고리별 고객 충성도의 차이를 명확하게 보여줍니다.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높은 재구매율을 </a:t>
            </a:r>
            <a:r>
              <a:rPr lang="en-US" sz="1200" dirty="0" err="1">
                <a:solidFill>
                  <a:srgbClr val="2C3E50"/>
                </a:solidFill>
              </a:rPr>
              <a:t>보이는</a:t>
            </a:r>
            <a:r>
              <a:rPr lang="en-US" sz="1200" dirty="0">
                <a:solidFill>
                  <a:srgbClr val="2C3E50"/>
                </a:solidFill>
              </a:rPr>
              <a:t> </a:t>
            </a:r>
            <a:r>
              <a:rPr lang="en-US" sz="1200" dirty="0" err="1">
                <a:solidFill>
                  <a:srgbClr val="2C3E50"/>
                </a:solidFill>
              </a:rPr>
              <a:t>카테고리</a:t>
            </a:r>
            <a:r>
              <a:rPr lang="en-US" altLang="ko-KR" sz="1200" dirty="0">
                <a:solidFill>
                  <a:srgbClr val="2C3E50"/>
                </a:solidFill>
              </a:rPr>
              <a:t>(</a:t>
            </a:r>
            <a:r>
              <a:rPr lang="ko-KR" altLang="en-US" sz="1200" dirty="0">
                <a:solidFill>
                  <a:srgbClr val="2C3E50"/>
                </a:solidFill>
              </a:rPr>
              <a:t>스킨케어</a:t>
            </a:r>
            <a:r>
              <a:rPr lang="en-US" altLang="ko-KR" sz="1200" dirty="0">
                <a:solidFill>
                  <a:srgbClr val="2C3E50"/>
                </a:solidFill>
              </a:rPr>
              <a:t>)</a:t>
            </a:r>
            <a:r>
              <a:rPr lang="en-US" sz="1200" dirty="0" err="1">
                <a:solidFill>
                  <a:srgbClr val="2C3E50"/>
                </a:solidFill>
              </a:rPr>
              <a:t>는</a:t>
            </a:r>
            <a:r>
              <a:rPr lang="en-US" sz="1200" dirty="0">
                <a:solidFill>
                  <a:srgbClr val="2C3E50"/>
                </a:solidFill>
              </a:rPr>
              <a:t> 소비재 성격이 강하거나 품질 만족도가 높은 제품군입니다.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낮은 재구매율을 </a:t>
            </a:r>
            <a:r>
              <a:rPr lang="en-US" sz="1200" dirty="0" err="1">
                <a:solidFill>
                  <a:srgbClr val="2C3E50"/>
                </a:solidFill>
              </a:rPr>
              <a:t>보이는</a:t>
            </a:r>
            <a:r>
              <a:rPr lang="en-US" sz="1200" dirty="0">
                <a:solidFill>
                  <a:srgbClr val="2C3E50"/>
                </a:solidFill>
              </a:rPr>
              <a:t> </a:t>
            </a:r>
            <a:r>
              <a:rPr lang="en-US" sz="1200" dirty="0" err="1">
                <a:solidFill>
                  <a:srgbClr val="2C3E50"/>
                </a:solidFill>
              </a:rPr>
              <a:t>카테고리</a:t>
            </a:r>
            <a:r>
              <a:rPr lang="en-US" altLang="ko-KR" sz="1200" dirty="0">
                <a:solidFill>
                  <a:srgbClr val="2C3E50"/>
                </a:solidFill>
              </a:rPr>
              <a:t>(</a:t>
            </a:r>
            <a:r>
              <a:rPr lang="ko-KR" altLang="en-US" sz="1200" dirty="0">
                <a:solidFill>
                  <a:srgbClr val="2C3E50"/>
                </a:solidFill>
              </a:rPr>
              <a:t>메이크업</a:t>
            </a:r>
            <a:r>
              <a:rPr lang="en-US" altLang="ko-KR" sz="1200" dirty="0">
                <a:solidFill>
                  <a:srgbClr val="2C3E50"/>
                </a:solidFill>
              </a:rPr>
              <a:t>)</a:t>
            </a:r>
            <a:r>
              <a:rPr lang="en-US" sz="1200" dirty="0" err="1">
                <a:solidFill>
                  <a:srgbClr val="2C3E50"/>
                </a:solidFill>
              </a:rPr>
              <a:t>는</a:t>
            </a:r>
            <a:r>
              <a:rPr lang="en-US" sz="1200" dirty="0">
                <a:solidFill>
                  <a:srgbClr val="2C3E50"/>
                </a:solidFill>
              </a:rPr>
              <a:t> 일회성 구매가 많거나 개선이 필요한 영역일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월별 재구매 패턴 분석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3525043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월별 재구매율의 변화와 계절성을 보여주는 차트입니다.</a:t>
            </a:r>
            <a:endParaRPr lang="en-US" sz="1400" dirty="0"/>
          </a:p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2C3E50"/>
                </a:solidFill>
              </a:rPr>
              <a:t>•</a:t>
            </a:r>
            <a:r>
              <a:rPr lang="ko-KR" altLang="en-US" sz="1400" dirty="0">
                <a:solidFill>
                  <a:srgbClr val="2C3E50"/>
                </a:solidFill>
              </a:rPr>
              <a:t> </a:t>
            </a:r>
            <a:r>
              <a:rPr lang="ko-KR" altLang="ko-KR" sz="14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신규 구매(하늘색 영역)의 비중이 비약적으로 커지면서 외형 성장을 견인</a:t>
            </a:r>
            <a:r>
              <a:rPr lang="ko-KR" altLang="en-US" sz="14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하고 있습니다</a:t>
            </a: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.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solidFill>
                  <a:srgbClr val="2C3E50"/>
                </a:solidFill>
              </a:rPr>
              <a:t>•</a:t>
            </a:r>
            <a:r>
              <a:rPr lang="ko-KR" altLang="en-US" sz="1400" dirty="0">
                <a:solidFill>
                  <a:srgbClr val="2C3E50"/>
                </a:solidFill>
              </a:rPr>
              <a:t> 재구매율은 </a:t>
            </a:r>
            <a:r>
              <a:rPr lang="en-US" altLang="ko-KR" sz="1400" dirty="0">
                <a:solidFill>
                  <a:srgbClr val="2C3E50"/>
                </a:solidFill>
              </a:rPr>
              <a:t>45%</a:t>
            </a:r>
            <a:r>
              <a:rPr lang="ko-KR" altLang="en-US" sz="1400" dirty="0" err="1">
                <a:solidFill>
                  <a:srgbClr val="2C3E50"/>
                </a:solidFill>
              </a:rPr>
              <a:t>를</a:t>
            </a:r>
            <a:r>
              <a:rPr lang="ko-KR" altLang="en-US" sz="1400" dirty="0">
                <a:solidFill>
                  <a:srgbClr val="2C3E50"/>
                </a:solidFill>
              </a:rPr>
              <a:t> 상회하던 고점에서 현재 </a:t>
            </a:r>
            <a:r>
              <a:rPr lang="en-US" altLang="ko-KR" sz="1400" dirty="0">
                <a:solidFill>
                  <a:srgbClr val="2C3E50"/>
                </a:solidFill>
              </a:rPr>
              <a:t>24%</a:t>
            </a:r>
            <a:r>
              <a:rPr lang="ko-KR" altLang="en-US" sz="1400" dirty="0">
                <a:solidFill>
                  <a:srgbClr val="2C3E50"/>
                </a:solidFill>
              </a:rPr>
              <a:t> 대까지 떨어졌습니다</a:t>
            </a:r>
            <a:r>
              <a:rPr lang="en-US" altLang="ko-KR" sz="1400" dirty="0">
                <a:solidFill>
                  <a:srgbClr val="2C3E50"/>
                </a:solidFill>
              </a:rPr>
              <a:t>.</a:t>
            </a:r>
            <a:endParaRPr lang="en-US" altLang="ko-KR" sz="1400" dirty="0">
              <a:solidFill>
                <a:srgbClr val="000000"/>
              </a:solidFill>
              <a:latin typeface="Arial" panose="020B0604020202020204" pitchFamily="34" charset="0"/>
              <a:ea typeface="-webkit-standard"/>
            </a:endParaRPr>
          </a:p>
          <a:p>
            <a:pPr>
              <a:lnSpc>
                <a:spcPts val="2000"/>
              </a:lnSpc>
            </a:pPr>
            <a:endParaRPr lang="ko-KR" altLang="ko-KR" sz="1400" dirty="0"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</a:pPr>
            <a:endParaRPr lang="en-US" sz="1400" dirty="0"/>
          </a:p>
        </p:txBody>
      </p:sp>
      <p:pic>
        <p:nvPicPr>
          <p:cNvPr id="9" name="그림 8" descr="그래프, 라인, 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FAC5A3-0AF2-DA1D-62D2-5843C9EC0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752" y="777240"/>
            <a:ext cx="4058495" cy="25259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대분류별 월별 재구매/신규구매 추이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대분류별 월별 재구매:신규구매 추이.png"/>
          <p:cNvPicPr>
            <a:picLocks noChangeAspect="1"/>
          </p:cNvPicPr>
          <p:nvPr/>
        </p:nvPicPr>
        <p:blipFill>
          <a:blip r:embed="rId3"/>
          <a:srcRect b="66349"/>
          <a:stretch>
            <a:fillRect/>
          </a:stretch>
        </p:blipFill>
        <p:spPr>
          <a:xfrm>
            <a:off x="0" y="695234"/>
            <a:ext cx="3993447" cy="15138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45606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각 대분류 카테고리에서 월별 재구매 고객과 신규 고객의 추이를 비교한 차트입니다.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</a:t>
            </a:r>
            <a:r>
              <a:rPr lang="ko-KR" altLang="en-US" sz="1400" dirty="0">
                <a:solidFill>
                  <a:srgbClr val="2C3E50"/>
                </a:solidFill>
              </a:rPr>
              <a:t> 스킨케어 카테고리는 다른 카테고리에 비해 재구매 리뷰 수가 가장 높았습니다</a:t>
            </a:r>
            <a:r>
              <a:rPr lang="en-US" altLang="ko-KR" sz="1400" dirty="0">
                <a:solidFill>
                  <a:srgbClr val="2C3E50"/>
                </a:solidFill>
              </a:rPr>
              <a:t>.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solidFill>
                  <a:srgbClr val="2C3E50"/>
                </a:solidFill>
              </a:rPr>
              <a:t>•</a:t>
            </a:r>
            <a:r>
              <a:rPr lang="ko-KR" altLang="en-US" sz="1400" dirty="0">
                <a:solidFill>
                  <a:srgbClr val="2C3E50"/>
                </a:solidFill>
              </a:rPr>
              <a:t> 그리고 신규 구매의 리뷰의 개수는 가장 높지만 비율은 메이크업이 더 높습니다</a:t>
            </a:r>
            <a:r>
              <a:rPr lang="en-US" altLang="ko-KR" sz="1400" dirty="0">
                <a:solidFill>
                  <a:srgbClr val="2C3E50"/>
                </a:solidFill>
              </a:rPr>
              <a:t>.</a:t>
            </a:r>
            <a:endParaRPr lang="en-US" sz="1400" dirty="0"/>
          </a:p>
        </p:txBody>
      </p:sp>
      <p:pic>
        <p:nvPicPr>
          <p:cNvPr id="6" name="Image 0" descr="/Users/yu_seok/Documents/workspace/nbCamp/Project/Why-pi/Chart/대분류별 월별 재구매:신규구매 추이.png">
            <a:extLst>
              <a:ext uri="{FF2B5EF4-FFF2-40B4-BE49-F238E27FC236}">
                <a16:creationId xmlns:a16="http://schemas.microsoft.com/office/drawing/2014/main" id="{5D26CBA3-29FA-E498-47EC-3D014F85A1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946" b="33778"/>
          <a:stretch>
            <a:fillRect/>
          </a:stretch>
        </p:blipFill>
        <p:spPr>
          <a:xfrm>
            <a:off x="3993446" y="682960"/>
            <a:ext cx="3904773" cy="1463676"/>
          </a:xfrm>
          <a:prstGeom prst="rect">
            <a:avLst/>
          </a:prstGeom>
        </p:spPr>
      </p:pic>
      <p:pic>
        <p:nvPicPr>
          <p:cNvPr id="7" name="Image 0" descr="/Users/yu_seok/Documents/workspace/nbCamp/Project/Why-pi/Chart/대분류별 월별 재구매:신규구매 추이.png">
            <a:extLst>
              <a:ext uri="{FF2B5EF4-FFF2-40B4-BE49-F238E27FC236}">
                <a16:creationId xmlns:a16="http://schemas.microsoft.com/office/drawing/2014/main" id="{ACD3F41D-5294-F041-DC1C-0F0DFC988C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571"/>
          <a:stretch>
            <a:fillRect/>
          </a:stretch>
        </p:blipFill>
        <p:spPr>
          <a:xfrm>
            <a:off x="2530437" y="2209057"/>
            <a:ext cx="3164917" cy="11918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소분류 카테고리별 월별 리뷰 수 추이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소분류 카테고리별 월별 리뷰 수 추이 (상위 10개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696" y="777240"/>
            <a:ext cx="4072608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인기 있는 소분류 카테고리 상위 10개의 월별 리뷰 수 변화를 보여주는 라인 차트입니다.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각 소분류 카테고리의 관심도와 활성도를 시간에 따라 추적할 수 있습니다.</a:t>
            </a:r>
            <a:endParaRPr lang="en-US" sz="1400" dirty="0"/>
          </a:p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2C3E50"/>
                </a:solidFill>
              </a:rPr>
              <a:t>•</a:t>
            </a:r>
            <a:r>
              <a:rPr lang="ko-KR" altLang="en-US" sz="1400" dirty="0">
                <a:solidFill>
                  <a:srgbClr val="2C3E50"/>
                </a:solidFill>
              </a:rPr>
              <a:t> </a:t>
            </a:r>
            <a:r>
              <a:rPr lang="ko-KR" altLang="en-US" sz="1400" dirty="0" err="1"/>
              <a:t>기초스킨케어</a:t>
            </a:r>
            <a:r>
              <a:rPr lang="en-US" altLang="ko-KR" sz="1400" dirty="0"/>
              <a:t>' </a:t>
            </a:r>
            <a:r>
              <a:rPr lang="ko-KR" altLang="en-US" sz="1400" dirty="0"/>
              <a:t>카테고리가 다른 모든 항목을 압도하며 전체 성장을 견인하고 있습니다</a:t>
            </a:r>
            <a:r>
              <a:rPr lang="en-US" altLang="ko-KR" sz="1400" dirty="0"/>
              <a:t>.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소분류 카테고리별 평균 재구매율</a:t>
            </a:r>
            <a:endParaRPr lang="en-US" sz="2400" dirty="0"/>
          </a:p>
        </p:txBody>
      </p:sp>
      <p:pic>
        <p:nvPicPr>
          <p:cNvPr id="4" name="Image 0" descr="/Users/yu_seok/Documents/workspace/nbCamp/Project/Why-pi/Chart/소분류 카테고리별 평균 재구매율 (인기 제품 상위 10개).png"/>
          <p:cNvPicPr>
            <a:picLocks noChangeAspect="1"/>
          </p:cNvPicPr>
          <p:nvPr/>
        </p:nvPicPr>
        <p:blipFill>
          <a:blip r:embed="rId3"/>
          <a:srcRect b="48752"/>
          <a:stretch>
            <a:fillRect/>
          </a:stretch>
        </p:blipFill>
        <p:spPr>
          <a:xfrm>
            <a:off x="457201" y="637561"/>
            <a:ext cx="3648394" cy="26567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822960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인기 제품 기준 상위 10개 소분류 카테고리의 평균 재구매율을 비교한 차트입니다.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</a:t>
            </a:r>
            <a:r>
              <a:rPr lang="ko-KR" altLang="en-US" sz="1400" dirty="0">
                <a:solidFill>
                  <a:srgbClr val="2C3E50"/>
                </a:solidFill>
              </a:rPr>
              <a:t> 팩 마스크는 꾸준한</a:t>
            </a:r>
            <a:r>
              <a:rPr lang="en-US" altLang="ko-KR" sz="1400" dirty="0">
                <a:solidFill>
                  <a:srgbClr val="2C3E50"/>
                </a:solidFill>
              </a:rPr>
              <a:t>(30%</a:t>
            </a:r>
            <a:r>
              <a:rPr lang="ko-KR" altLang="en-US" sz="1400" dirty="0">
                <a:solidFill>
                  <a:srgbClr val="2C3E50"/>
                </a:solidFill>
              </a:rPr>
              <a:t> 이상</a:t>
            </a:r>
            <a:r>
              <a:rPr lang="en-US" altLang="ko-KR" sz="1400" dirty="0">
                <a:solidFill>
                  <a:srgbClr val="2C3E50"/>
                </a:solidFill>
              </a:rPr>
              <a:t>)</a:t>
            </a:r>
            <a:r>
              <a:rPr lang="ko-KR" altLang="en-US" sz="1400" dirty="0">
                <a:solidFill>
                  <a:srgbClr val="2C3E50"/>
                </a:solidFill>
              </a:rPr>
              <a:t> </a:t>
            </a:r>
            <a:r>
              <a:rPr lang="ko-KR" altLang="en-US" sz="1400" dirty="0" err="1">
                <a:solidFill>
                  <a:srgbClr val="2C3E50"/>
                </a:solidFill>
              </a:rPr>
              <a:t>리텐션</a:t>
            </a:r>
            <a:r>
              <a:rPr lang="ko-KR" altLang="en-US" sz="1400" dirty="0">
                <a:solidFill>
                  <a:srgbClr val="2C3E50"/>
                </a:solidFill>
              </a:rPr>
              <a:t> 비율을 보이고 있습니다</a:t>
            </a:r>
            <a:r>
              <a:rPr lang="en-US" altLang="ko-KR" sz="1400" dirty="0">
                <a:solidFill>
                  <a:srgbClr val="2C3E50"/>
                </a:solidFill>
              </a:rPr>
              <a:t>.</a:t>
            </a:r>
          </a:p>
          <a:p>
            <a:pPr>
              <a:lnSpc>
                <a:spcPts val="2000"/>
              </a:lnSpc>
            </a:pPr>
            <a:r>
              <a:rPr lang="en-US" altLang="ko-KR" sz="1400" dirty="0">
                <a:solidFill>
                  <a:srgbClr val="2C3E50"/>
                </a:solidFill>
              </a:rPr>
              <a:t>•</a:t>
            </a:r>
            <a:r>
              <a:rPr lang="ko-KR" altLang="en-US" sz="1400" dirty="0">
                <a:solidFill>
                  <a:srgbClr val="2C3E50"/>
                </a:solidFill>
              </a:rPr>
              <a:t> 다만</a:t>
            </a:r>
            <a:r>
              <a:rPr lang="en-US" altLang="ko-KR" sz="1400" dirty="0">
                <a:solidFill>
                  <a:srgbClr val="2C3E50"/>
                </a:solidFill>
              </a:rPr>
              <a:t>,</a:t>
            </a:r>
            <a:r>
              <a:rPr lang="ko-KR" altLang="en-US" sz="1400" dirty="0">
                <a:solidFill>
                  <a:srgbClr val="2C3E50"/>
                </a:solidFill>
              </a:rPr>
              <a:t> </a:t>
            </a:r>
            <a:r>
              <a:rPr lang="ko-KR" altLang="en-US" sz="1400" dirty="0" err="1">
                <a:solidFill>
                  <a:srgbClr val="2C3E50"/>
                </a:solidFill>
              </a:rPr>
              <a:t>기초스킨케어의</a:t>
            </a:r>
            <a:r>
              <a:rPr lang="ko-KR" altLang="en-US" sz="1400" dirty="0">
                <a:solidFill>
                  <a:srgbClr val="2C3E50"/>
                </a:solidFill>
              </a:rPr>
              <a:t> </a:t>
            </a:r>
            <a:r>
              <a:rPr lang="ko-KR" altLang="en-US" sz="1400" dirty="0" err="1">
                <a:solidFill>
                  <a:srgbClr val="2C3E50"/>
                </a:solidFill>
              </a:rPr>
              <a:t>리텐션은</a:t>
            </a:r>
            <a:r>
              <a:rPr lang="ko-KR" altLang="en-US" sz="1400" dirty="0">
                <a:solidFill>
                  <a:srgbClr val="2C3E50"/>
                </a:solidFill>
              </a:rPr>
              <a:t> </a:t>
            </a:r>
            <a:r>
              <a:rPr lang="ko-KR" altLang="en-US" sz="1400" dirty="0" err="1">
                <a:solidFill>
                  <a:srgbClr val="2C3E50"/>
                </a:solidFill>
              </a:rPr>
              <a:t>우하향</a:t>
            </a:r>
            <a:r>
              <a:rPr lang="ko-KR" altLang="en-US" sz="1400" dirty="0">
                <a:solidFill>
                  <a:srgbClr val="2C3E50"/>
                </a:solidFill>
              </a:rPr>
              <a:t> 하고 있습니다</a:t>
            </a:r>
            <a:r>
              <a:rPr lang="en-US" altLang="ko-KR" sz="1400" dirty="0">
                <a:solidFill>
                  <a:srgbClr val="2C3E50"/>
                </a:solidFill>
              </a:rPr>
              <a:t>.</a:t>
            </a:r>
            <a:endParaRPr lang="en-US" sz="1400" dirty="0"/>
          </a:p>
        </p:txBody>
      </p:sp>
      <p:pic>
        <p:nvPicPr>
          <p:cNvPr id="6" name="Image 0" descr="/Users/yu_seok/Documents/workspace/nbCamp/Project/Why-pi/Chart/소분류 카테고리별 평균 재구매율 (인기 제품 상위 10개).png">
            <a:extLst>
              <a:ext uri="{FF2B5EF4-FFF2-40B4-BE49-F238E27FC236}">
                <a16:creationId xmlns:a16="http://schemas.microsoft.com/office/drawing/2014/main" id="{D93DC049-943C-6081-CD8A-5CA8D5F7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752"/>
          <a:stretch>
            <a:fillRect/>
          </a:stretch>
        </p:blipFill>
        <p:spPr>
          <a:xfrm>
            <a:off x="4337658" y="637561"/>
            <a:ext cx="3621918" cy="265639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월별 신제품 출시 수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0217" y="3077094"/>
            <a:ext cx="8783783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월별로 출시된 신제품의 수를 시계열로 보여주는 차트입니다.</a:t>
            </a:r>
            <a:endParaRPr lang="en-US" sz="1200" dirty="0"/>
          </a:p>
          <a:p>
            <a:pPr>
              <a:lnSpc>
                <a:spcPts val="2000"/>
              </a:lnSpc>
            </a:pPr>
            <a:r>
              <a:rPr lang="en-US" sz="1200" dirty="0">
                <a:solidFill>
                  <a:srgbClr val="2C3E50"/>
                </a:solidFill>
              </a:rPr>
              <a:t>•</a:t>
            </a:r>
            <a:r>
              <a:rPr lang="ko-KR" altLang="en-US" sz="1200" dirty="0">
                <a:solidFill>
                  <a:srgbClr val="2C3E50"/>
                </a:solidFill>
              </a:rPr>
              <a:t> </a:t>
            </a:r>
            <a:r>
              <a:rPr lang="ko-KR" altLang="ko-KR" sz="1200" dirty="0">
                <a:solidFill>
                  <a:srgbClr val="000000"/>
                </a:solidFill>
              </a:rPr>
              <a:t>2024년 11월과 2025년 3월에 신제품 출시가 평소보다 크게 늘어났습니다 </a:t>
            </a:r>
            <a:endParaRPr lang="ko-KR" altLang="ko-KR" sz="1200" dirty="0"/>
          </a:p>
          <a:p>
            <a:pPr>
              <a:lnSpc>
                <a:spcPts val="2000"/>
              </a:lnSpc>
            </a:pPr>
            <a:r>
              <a:rPr lang="en-US" altLang="ko-KR" sz="1200" dirty="0">
                <a:solidFill>
                  <a:srgbClr val="2C3E50"/>
                </a:solidFill>
              </a:rPr>
              <a:t>•</a:t>
            </a:r>
            <a:r>
              <a:rPr lang="ko-KR" altLang="en-US" sz="1200" dirty="0">
                <a:solidFill>
                  <a:srgbClr val="2C3E50"/>
                </a:solidFill>
              </a:rPr>
              <a:t> </a:t>
            </a:r>
            <a:r>
              <a:rPr lang="ko-KR" altLang="ko-KR" sz="1200" dirty="0" err="1">
                <a:solidFill>
                  <a:srgbClr val="000000"/>
                </a:solidFill>
              </a:rPr>
              <a:t>기초스킨케어</a:t>
            </a:r>
            <a:r>
              <a:rPr lang="ko-KR" altLang="en-US" sz="1200" dirty="0">
                <a:solidFill>
                  <a:srgbClr val="000000"/>
                </a:solidFill>
              </a:rPr>
              <a:t> </a:t>
            </a:r>
            <a:r>
              <a:rPr lang="ko-KR" altLang="ko-KR" sz="1200" dirty="0">
                <a:solidFill>
                  <a:srgbClr val="000000"/>
                </a:solidFill>
                <a:ea typeface="-webkit-standard"/>
              </a:rPr>
              <a:t>막대가 거의 모든 달에 걸쳐 가장 큰 비중을 차지합니다. 이는 전체 리뷰 수 추이에서 </a:t>
            </a:r>
            <a:r>
              <a:rPr lang="ko-KR" altLang="ko-KR" sz="1200" dirty="0" err="1">
                <a:solidFill>
                  <a:srgbClr val="000000"/>
                </a:solidFill>
                <a:ea typeface="-webkit-standard"/>
              </a:rPr>
              <a:t>기초스킨케어가</a:t>
            </a:r>
            <a:r>
              <a:rPr lang="ko-KR" altLang="ko-KR" sz="1200" dirty="0">
                <a:solidFill>
                  <a:srgbClr val="000000"/>
                </a:solidFill>
                <a:ea typeface="-webkit-standard"/>
              </a:rPr>
              <a:t> 독보적이었던 이유가 단순히 운이 아니라, </a:t>
            </a:r>
            <a:r>
              <a:rPr lang="ko-KR" altLang="ko-KR" sz="1200" dirty="0">
                <a:solidFill>
                  <a:srgbClr val="000000"/>
                </a:solidFill>
              </a:rPr>
              <a:t>끊임없는 신제품 공급</a:t>
            </a:r>
            <a:r>
              <a:rPr lang="ko-KR" altLang="ko-KR" sz="1200" dirty="0">
                <a:solidFill>
                  <a:srgbClr val="000000"/>
                </a:solidFill>
                <a:ea typeface="-webkit-standard"/>
              </a:rPr>
              <a:t> 때문이었음을 보여줍니다.</a:t>
            </a:r>
            <a:endParaRPr lang="en-US" altLang="ko-KR" sz="1200" dirty="0">
              <a:solidFill>
                <a:srgbClr val="000000"/>
              </a:solidFill>
              <a:ea typeface="-webkit-standard"/>
            </a:endParaRPr>
          </a:p>
          <a:p>
            <a:pPr>
              <a:lnSpc>
                <a:spcPts val="2000"/>
              </a:lnSpc>
            </a:pPr>
            <a:r>
              <a:rPr lang="en-US" altLang="ko-KR" sz="1200" dirty="0">
                <a:solidFill>
                  <a:srgbClr val="2C3E50"/>
                </a:solidFill>
              </a:rPr>
              <a:t>• </a:t>
            </a:r>
            <a:r>
              <a:rPr lang="ko-KR" altLang="en-US" sz="1200" dirty="0">
                <a:solidFill>
                  <a:srgbClr val="2C3E50"/>
                </a:solidFill>
              </a:rPr>
              <a:t> </a:t>
            </a:r>
            <a:r>
              <a:rPr lang="ko-KR" altLang="ko-KR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2025년 3월은 신제품 출시가 75개로 크게 튀어 오른 달입니다. </a:t>
            </a:r>
            <a:endParaRPr lang="en-US" altLang="ko-KR" sz="1200" dirty="0">
              <a:solidFill>
                <a:srgbClr val="000000"/>
              </a:solidFill>
              <a:latin typeface="Arial" panose="020B0604020202020204" pitchFamily="34" charset="0"/>
              <a:ea typeface="-webkit-standard"/>
            </a:endParaRPr>
          </a:p>
          <a:p>
            <a:pPr>
              <a:lnSpc>
                <a:spcPts val="2000"/>
              </a:lnSpc>
            </a:pPr>
            <a:r>
              <a:rPr lang="ko-KR" altLang="ko-KR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이때 </a:t>
            </a:r>
            <a:r>
              <a:rPr lang="ko-KR" altLang="ko-KR" sz="1200" dirty="0" err="1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치크</a:t>
            </a:r>
            <a:r>
              <a:rPr lang="ko-KR" altLang="ko-KR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/</a:t>
            </a:r>
            <a:r>
              <a:rPr lang="ko-KR" altLang="ko-KR" sz="1200" dirty="0" err="1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하이라이터와</a:t>
            </a:r>
            <a:r>
              <a:rPr lang="ko-KR" altLang="ko-KR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 베이스메이크업의 출시가 많았는데, 이 시점이 전체 리뷰 수가 역대 최고치를 기록하는 2025년 4월 직전이라는 점이 매우 흥미롭습니다.</a:t>
            </a:r>
            <a:endParaRPr lang="en-US" altLang="ko-KR" sz="1200" dirty="0">
              <a:solidFill>
                <a:srgbClr val="000000"/>
              </a:solidFill>
              <a:latin typeface="Arial" panose="020B0604020202020204" pitchFamily="34" charset="0"/>
              <a:ea typeface="-webkit-standard"/>
            </a:endParaRPr>
          </a:p>
          <a:p>
            <a:pPr>
              <a:lnSpc>
                <a:spcPts val="2000"/>
              </a:lnSpc>
            </a:pPr>
            <a:r>
              <a:rPr lang="en-US" altLang="ko-KR" sz="1200" dirty="0">
                <a:solidFill>
                  <a:srgbClr val="2C3E50"/>
                </a:solidFill>
              </a:rPr>
              <a:t>•</a:t>
            </a:r>
            <a:r>
              <a:rPr lang="ko-KR" altLang="en-US" sz="1200" dirty="0">
                <a:solidFill>
                  <a:srgbClr val="2C3E50"/>
                </a:solidFill>
              </a:rPr>
              <a:t> </a:t>
            </a:r>
            <a:r>
              <a:rPr lang="ko-KR" altLang="ko-KR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누적 신제품 수가 800개를 넘어가면서, 소비자들은 새로운 제품을 탐색하는 </a:t>
            </a:r>
            <a:r>
              <a:rPr lang="ko-KR" altLang="ko-KR" sz="1200" dirty="0">
                <a:solidFill>
                  <a:srgbClr val="000000"/>
                </a:solidFill>
                <a:latin typeface="Arial" panose="020B0604020202020204" pitchFamily="34" charset="0"/>
              </a:rPr>
              <a:t>'테스터' 성향</a:t>
            </a:r>
            <a:r>
              <a:rPr lang="ko-KR" altLang="ko-KR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이 강해</a:t>
            </a:r>
            <a:r>
              <a:rPr lang="ko-KR" altLang="en-US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졌을 것으로 추측됩니다</a:t>
            </a:r>
            <a:r>
              <a:rPr lang="en-US" altLang="ko-KR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.</a:t>
            </a:r>
            <a:endParaRPr lang="ko-KR" altLang="ko-KR" sz="1200" dirty="0"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</a:pPr>
            <a:endParaRPr lang="ko-KR" altLang="ko-KR" sz="1200" dirty="0"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</a:pPr>
            <a:endParaRPr lang="ko-KR" altLang="ko-KR" sz="1200" dirty="0"/>
          </a:p>
          <a:p>
            <a:pPr>
              <a:lnSpc>
                <a:spcPts val="2000"/>
              </a:lnSpc>
            </a:pPr>
            <a:endParaRPr lang="en-US" sz="1200" dirty="0"/>
          </a:p>
        </p:txBody>
      </p:sp>
      <p:pic>
        <p:nvPicPr>
          <p:cNvPr id="8" name="그림 7" descr="그래프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91F292-A0E2-F666-2FCD-4AC4C85CE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878" y="640080"/>
            <a:ext cx="5046243" cy="2501105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77DA5AC9-171A-6AEF-4F1A-B029EADEB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누적 신제품 수가 800개를 넘어가면서, 소비자들은 한 제품에 정착하기보다 매달 쏟아지는 새로운 제품을 탐색하는 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'테스터' 성향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이 강해졌습니다.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</TotalTime>
  <Words>1073</Words>
  <Application>Microsoft Macintosh PowerPoint</Application>
  <PresentationFormat>화면 슬라이드 쇼(16:9)</PresentationFormat>
  <Paragraphs>113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-webkit-standard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다이소 뷰티 제품 데이터 분석</dc:title>
  <dc:subject>PptxGenJS Presentation</dc:subject>
  <dc:creator>Why-pi 프로젝트</dc:creator>
  <cp:lastModifiedBy>유석 권</cp:lastModifiedBy>
  <cp:revision>3</cp:revision>
  <dcterms:created xsi:type="dcterms:W3CDTF">2026-02-06T05:51:13Z</dcterms:created>
  <dcterms:modified xsi:type="dcterms:W3CDTF">2026-02-06T07:00:51Z</dcterms:modified>
</cp:coreProperties>
</file>