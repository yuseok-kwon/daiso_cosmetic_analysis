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163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뷰티 제품 평균 가격 비교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(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원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가격 비교</c:v>
                </c:pt>
              </c:strCache>
            </c:strRef>
          </c:tx>
          <c:spPr>
            <a:solidFill>
              <a:srgbClr val="E3373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다이소</c:v>
                </c:pt>
                <c:pt idx="1">
                  <c:v>올리브영 저가</c:v>
                </c:pt>
                <c:pt idx="2">
                  <c:v>올리브영 평균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3000</c:v>
                </c:pt>
                <c:pt idx="1">
                  <c:v>8000</c:v>
                </c:pt>
                <c:pt idx="2">
                  <c:v>15000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43-3A45-AE4D-7205BD254F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ko-KR" altLang="en-US" b="0" i="0" u="none" strike="noStrike">
                    <a:solidFill>
                      <a:srgbClr val="000000"/>
                    </a:solidFill>
                    <a:latin typeface="Arial"/>
                  </a:rPr>
                  <a:t>브랜드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ko-KR" altLang="en-US" b="0" i="0" u="none" strike="noStrike">
                    <a:solidFill>
                      <a:srgbClr val="000000"/>
                    </a:solidFill>
                    <a:latin typeface="Arial"/>
                  </a:rPr>
                  <a:t>가격 </a:t>
                </a:r>
                <a:r>
                  <a:rPr lang="en-US" altLang="ko-KR" b="0" i="0" u="none" strike="noStrike">
                    <a:solidFill>
                      <a:srgbClr val="000000"/>
                    </a:solidFill>
                    <a:latin typeface="Arial"/>
                  </a:rPr>
                  <a:t>(</a:t>
                </a:r>
                <a:r>
                  <a:rPr lang="ko-KR" altLang="en-US" b="0" i="0" u="none" strike="noStrike">
                    <a:solidFill>
                      <a:srgbClr val="000000"/>
                    </a:solidFill>
                    <a:latin typeface="Arial"/>
                  </a:rPr>
                  <a:t>원</a:t>
                </a:r>
                <a:r>
                  <a:rPr lang="en-US" altLang="ko-KR" b="0" i="0" u="none" strike="noStrike">
                    <a:solidFill>
                      <a:srgbClr val="000000"/>
                    </a:solidFill>
                    <a:latin typeface="Arial"/>
                  </a:rPr>
                  <a:t>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건강 제품 평균 가격 비교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(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원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가격 비교</c:v>
                </c:pt>
              </c:strCache>
            </c:strRef>
          </c:tx>
          <c:spPr>
            <a:solidFill>
              <a:srgbClr val="E3373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다이소</c:v>
                </c:pt>
                <c:pt idx="1">
                  <c:v>iHerb 소포장</c:v>
                </c:pt>
                <c:pt idx="2">
                  <c:v>iHerb 평균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</c:v>
                </c:pt>
                <c:pt idx="1">
                  <c:v>25000</c:v>
                </c:pt>
                <c:pt idx="2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D1-434B-AA6A-61E31F4C8C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ko-KR" altLang="en-US" b="0" i="0" u="none" strike="noStrike">
                    <a:solidFill>
                      <a:srgbClr val="000000"/>
                    </a:solidFill>
                    <a:latin typeface="Arial"/>
                  </a:rPr>
                  <a:t>브랜드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ko-KR" altLang="en-US" b="0" i="0" u="none" strike="noStrike">
                    <a:solidFill>
                      <a:srgbClr val="000000"/>
                    </a:solidFill>
                    <a:latin typeface="Arial"/>
                  </a:rPr>
                  <a:t>가격 </a:t>
                </a:r>
                <a:r>
                  <a:rPr lang="en-US" altLang="ko-KR" b="0" i="0" u="none" strike="noStrike">
                    <a:solidFill>
                      <a:srgbClr val="000000"/>
                    </a:solidFill>
                    <a:latin typeface="Arial"/>
                  </a:rPr>
                  <a:t>(</a:t>
                </a:r>
                <a:r>
                  <a:rPr lang="ko-KR" altLang="en-US" b="0" i="0" u="none" strike="noStrike">
                    <a:solidFill>
                      <a:srgbClr val="000000"/>
                    </a:solidFill>
                    <a:latin typeface="Arial"/>
                  </a:rPr>
                  <a:t>원</a:t>
                </a:r>
                <a:r>
                  <a:rPr lang="en-US" altLang="ko-KR" b="0" i="0" u="none" strike="noStrike">
                    <a:solidFill>
                      <a:srgbClr val="000000"/>
                    </a:solidFill>
                    <a:latin typeface="Arial"/>
                  </a:rPr>
                  <a:t>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22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1901" y="1404938"/>
            <a:ext cx="2539901" cy="76200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85655" y="1862138"/>
            <a:ext cx="697254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아성다이소 글로벌 진출 전략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85655" y="2858988"/>
            <a:ext cx="69725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24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뷰티·헬스 시장 경쟁력 분석 및 최적 입지 선정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5112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2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및 목표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6044" y="2397543"/>
            <a:ext cx="829066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현황:</a:t>
            </a: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600" dirty="0" err="1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아성다이소</a:t>
            </a:r>
            <a:r>
              <a:rPr lang="ko-KR" alt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기준 매출 4조 원 돌파, 온라인 MAU 424만 달성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6044" y="2813964"/>
            <a:ext cx="829066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</a:t>
            </a: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가격 경쟁력을 활용한 글로벌 뷰티·건강 시장 진출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6044" y="3230385"/>
            <a:ext cx="829066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전략:</a:t>
            </a:r>
            <a:r>
              <a:rPr lang="en-US" sz="1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데이터 기반 비교 분석을 통한 이길 수 있는 시장 발굴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3718024"/>
            <a:ext cx="8128099" cy="873472"/>
          </a:xfrm>
          <a:prstGeom prst="rect">
            <a:avLst/>
          </a:prstGeom>
          <a:solidFill>
            <a:srgbClr val="CCCBC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6050" y="3718024"/>
            <a:ext cx="0" cy="873472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38051" y="3971925"/>
            <a:ext cx="769498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강자(올리브영, iHerb)와의 차별화된 포지셔닝</a:t>
            </a:r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E7078-E586-3C23-B28D-EE57DE31A0F5}"/>
              </a:ext>
            </a:extLst>
          </p:cNvPr>
          <p:cNvSpPr txBox="1"/>
          <p:nvPr/>
        </p:nvSpPr>
        <p:spPr>
          <a:xfrm>
            <a:off x="425229" y="2028839"/>
            <a:ext cx="69390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페르소나: </a:t>
            </a:r>
            <a:r>
              <a:rPr lang="ko-KR" altLang="en-US" sz="1600" dirty="0" err="1"/>
              <a:t>아성다이소</a:t>
            </a:r>
            <a:r>
              <a:rPr lang="ko-KR" altLang="en-US" sz="1600" dirty="0"/>
              <a:t> 해외사업부 전략 기획 담당자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뷰티 시장: 올리브영과의 경쟁 구도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2030916"/>
            <a:ext cx="39510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 err="1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</a:t>
            </a:r>
            <a:r>
              <a:rPr lang="en-US" altLang="ko-KR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올리브영</a:t>
            </a:r>
            <a:r>
              <a:rPr lang="en-US" altLang="ko-KR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현황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526216"/>
            <a:ext cx="3873550" cy="152385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K-뷰티 폭발적 성장세</a:t>
            </a:r>
            <a:endParaRPr lang="en-US" sz="1500" dirty="0"/>
          </a:p>
          <a:p>
            <a:pPr marL="127000" indent="-127000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올리브영 100억</a:t>
            </a:r>
            <a:r>
              <a:rPr lang="ko-KR" altLang="en-US" b="1" dirty="0"/>
              <a:t>↑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매출 브랜드 116개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프리미엄 인디 브랜드 위주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미국·일본 오프라인 확장 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62500" y="2030916"/>
            <a:ext cx="39510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다이소의 포지셔닝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62500" y="2526216"/>
            <a:ext cx="4194464" cy="152385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가격대: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1,000~5,000원 (초저가)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전략: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올리브영 가기 전 </a:t>
            </a:r>
            <a:r>
              <a:rPr lang="en-US" sz="1500" dirty="0" err="1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들르는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입문용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숍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타깃: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K-뷰티에 관심 많은 글로벌 Z세대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주력: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기본 케어 (마스크팩, 립밤, 패드)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뷰티 경쟁 전략 포인트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511201"/>
            <a:ext cx="36270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차별화 요소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00650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3~5배 격차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244465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구매 및 기념품 수요 공략 가능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50" y="288280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부담 없는 테스트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50" y="332095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고가 제품 구매 전 체험 기회 제공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950" y="375910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접근성 강화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950" y="419725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관광객 및 실속형 소비자 집중 공략</a:t>
            </a:r>
            <a:endParaRPr lang="en-US" sz="15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444901" y="1511201"/>
          <a:ext cx="4191149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 시장: iHerb와의 경쟁 구도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638151"/>
            <a:ext cx="39510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현황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133451"/>
            <a:ext cx="3873550" cy="152385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건기식 시장 연평균 9% 성장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iHerb, Now Foods 등 거대 플랫폼 장악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고품질·다양성 중심 경쟁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직구 구매의 번거로움 존재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62500" y="1638151"/>
            <a:ext cx="39510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다이소의 포지셔닝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62499" y="2133451"/>
            <a:ext cx="4105339" cy="18096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가격대: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1,000~10,000원 (소포장)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전략: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사는 일상 필수 영양제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타깃: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iHerb 직구는 부담스러운 실속형 소비자</a:t>
            </a:r>
            <a:endParaRPr lang="en-US" sz="1500" dirty="0"/>
          </a:p>
          <a:p>
            <a:pPr marL="127000" indent="-127000" algn="l">
              <a:lnSpc>
                <a:spcPts val="225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주력: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비타민C, 유산균, 단백질 스낵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 경쟁 전략 포인트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511201"/>
            <a:ext cx="36270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차별화 요소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200650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5~10배 격차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50" y="244465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ko-KR" alt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</a:t>
            </a: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부담 없는 즉시 구매 유도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7950" y="288280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맛과 간편함 강조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950" y="332095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전문성보다 스낵형 건기식으로 차별화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7950" y="375910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K-헬스 이미지 활용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950" y="4197251"/>
            <a:ext cx="36270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브랜드 신뢰도 보완 및 접근성 강화</a:t>
            </a:r>
            <a:endParaRPr lang="en-US" sz="15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444901" y="1511201"/>
          <a:ext cx="4191149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방법론 및 기술 전략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638151"/>
            <a:ext cx="2561184" cy="2983855"/>
          </a:xfrm>
          <a:prstGeom prst="roundRect">
            <a:avLst>
              <a:gd name="adj" fmla="val 406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638151"/>
            <a:ext cx="0" cy="2983855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38051" y="1892052"/>
            <a:ext cx="20892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가격 경쟁력 분석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050" y="2596901"/>
            <a:ext cx="2269358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글로벌 시장 가격 우위 지수화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8049" y="3127027"/>
            <a:ext cx="1951905" cy="7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크롤링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8050" y="3602830"/>
            <a:ext cx="1951905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가격 갭 분석 및 승리 품목 리스트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23034" y="1638151"/>
            <a:ext cx="2561184" cy="2983855"/>
          </a:xfrm>
          <a:prstGeom prst="roundRect">
            <a:avLst>
              <a:gd name="adj" fmla="val 406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61134" y="1638151"/>
            <a:ext cx="0" cy="2983855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3134" y="1892052"/>
            <a:ext cx="203578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b="1" dirty="0" err="1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</a:t>
            </a:r>
            <a:r>
              <a:rPr lang="en-US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인식 분석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3134" y="2596902"/>
            <a:ext cx="203578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구매 결정 요인 파악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3135" y="2947392"/>
            <a:ext cx="1952056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NLP, 토픽 모델링(LDA), 감성 분석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3135" y="3546872"/>
            <a:ext cx="1952050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구매 장벽 워드클라우드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38266" y="1638151"/>
            <a:ext cx="2582285" cy="2983855"/>
          </a:xfrm>
          <a:prstGeom prst="roundRect">
            <a:avLst>
              <a:gd name="adj" fmla="val 406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76367" y="1638151"/>
            <a:ext cx="0" cy="2983855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68367" y="1892052"/>
            <a:ext cx="225218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GIS 최적 입지 추천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8368" y="2596902"/>
            <a:ext cx="1952056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진출 국가 및 도시 추천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8368" y="3196382"/>
            <a:ext cx="195205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Tableau 시각화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8368" y="3546872"/>
            <a:ext cx="1785778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6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산출물:</a:t>
            </a: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글로벌 진출 우선순위 지도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 페르소나 A: K-뷰티 찍먹 입문자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84102"/>
            <a:ext cx="8128099" cy="1091357"/>
          </a:xfrm>
          <a:prstGeom prst="roundRect">
            <a:avLst>
              <a:gd name="adj" fmla="val 93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384102"/>
            <a:ext cx="0" cy="1091357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4650" y="1574602"/>
            <a:ext cx="78243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4650" y="1977777"/>
            <a:ext cx="782431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10~20대 초반 여성, TikTok 유저, 용돈으로 뷰티 소비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627858"/>
            <a:ext cx="8128099" cy="2066880"/>
          </a:xfrm>
          <a:prstGeom prst="roundRect">
            <a:avLst>
              <a:gd name="adj" fmla="val 608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 flipH="1">
            <a:off x="545033" y="2627858"/>
            <a:ext cx="1017" cy="2066880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4650" y="2818358"/>
            <a:ext cx="78243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4650" y="3221534"/>
            <a:ext cx="782431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  <a:spcAft>
                <a:spcPts val="600"/>
              </a:spcAft>
            </a:pPr>
            <a:r>
              <a:rPr lang="ko-KR" alt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올리브영이 백화점이라면 </a:t>
            </a:r>
            <a:r>
              <a:rPr lang="ko-KR" altLang="en-US" sz="1300" dirty="0" err="1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다이소는</a:t>
            </a:r>
            <a:r>
              <a:rPr lang="ko-KR" alt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편의점 전략</a:t>
            </a:r>
            <a:endParaRPr lang="en-US" altLang="ko-KR" sz="1300" dirty="0">
              <a:solidFill>
                <a:srgbClr val="29292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1820"/>
              </a:lnSpc>
              <a:spcAft>
                <a:spcPts val="600"/>
              </a:spcAft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바이럴 아이템 위주 구성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4650" y="3873135"/>
            <a:ext cx="7670899" cy="476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 (LA, NYC):</a:t>
            </a: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낙수 효과 기대</a:t>
            </a:r>
            <a:endParaRPr lang="en-US" sz="13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(방콕, 호치민):</a:t>
            </a: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K-컬처 선호, 가격 민감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타깃 페르소나 B: 실속형 웰니스 소비자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84102"/>
            <a:ext cx="8128099" cy="1091357"/>
          </a:xfrm>
          <a:prstGeom prst="roundRect">
            <a:avLst>
              <a:gd name="adj" fmla="val 93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6050" y="1384102"/>
            <a:ext cx="0" cy="1091357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4650" y="1574602"/>
            <a:ext cx="78243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4650" y="1977777"/>
            <a:ext cx="782431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20~40대 직장인, 운동/건강 관심, iHerb 직구 부담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627858"/>
            <a:ext cx="8128099" cy="1669107"/>
          </a:xfrm>
          <a:prstGeom prst="roundRect">
            <a:avLst>
              <a:gd name="adj" fmla="val 608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6050" y="2627858"/>
            <a:ext cx="0" cy="1669107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4650" y="2818358"/>
            <a:ext cx="782431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4650" y="3221534"/>
            <a:ext cx="7824317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끼워팔기 전략, 젤리/스낵형 영양제 주력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4650" y="3554016"/>
            <a:ext cx="7670899" cy="4762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인도 &amp; 동남아:</a:t>
            </a: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저가 시장 급성장</a:t>
            </a:r>
            <a:endParaRPr lang="en-US" sz="1300" dirty="0"/>
          </a:p>
          <a:p>
            <a:pPr marL="127000" indent="-127000" algn="l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중동 (UAE):</a:t>
            </a:r>
            <a:r>
              <a:rPr lang="en-US" sz="13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할랄 인증 진출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30201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" y="0"/>
            <a:ext cx="0" cy="1130201"/>
          </a:xfrm>
          <a:prstGeom prst="line">
            <a:avLst/>
          </a:prstGeom>
          <a:noFill/>
          <a:ln w="9525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03200" y="317450"/>
            <a:ext cx="819350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산출물 및 기대 효과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447651"/>
            <a:ext cx="8290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결과물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942951"/>
            <a:ext cx="8128099" cy="832396"/>
          </a:xfrm>
          <a:prstGeom prst="roundRect">
            <a:avLst>
              <a:gd name="adj" fmla="val 122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6050" y="1942951"/>
            <a:ext cx="0" cy="832396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6550" y="2095351"/>
            <a:ext cx="79020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글로벌 진출 전략 시뮬레이터 (대시보드)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550" y="2409676"/>
            <a:ext cx="79020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국가/카테고리 선택 시 예상 경쟁 강도, 추천 가격대, 예상 매출 시뮬레이션 제공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902297"/>
            <a:ext cx="8128099" cy="832396"/>
          </a:xfrm>
          <a:prstGeom prst="roundRect">
            <a:avLst>
              <a:gd name="adj" fmla="val 122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6050" y="2902297"/>
            <a:ext cx="0" cy="832396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6550" y="3054697"/>
            <a:ext cx="79020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카테고리별 매트릭스 (보고서)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550" y="3369022"/>
            <a:ext cx="79020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우위 품목 vs 품질 우위 품목 분류를 통한 소싱 전략 가이드라인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3861643"/>
            <a:ext cx="8128099" cy="832396"/>
          </a:xfrm>
          <a:prstGeom prst="roundRect">
            <a:avLst>
              <a:gd name="adj" fmla="val 122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6050" y="3861643"/>
            <a:ext cx="0" cy="832396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6550" y="4014043"/>
            <a:ext cx="79020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기회 시장 히트맵 (시각화)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6550" y="4328368"/>
            <a:ext cx="79020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K-뷰티 검색량과 한국 수출 데이터를 결합한 국가별 잠재력 지도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563</Words>
  <Application>Microsoft Macintosh PowerPoint</Application>
  <PresentationFormat>화면 슬라이드 쇼(16:9)</PresentationFormat>
  <Paragraphs>99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아성다이소 글로벌 뷰티·헬스 시장 진출 전략</dc:title>
  <dc:subject>PptxGenJS Presentation</dc:subject>
  <dc:creator>아성다이소 전략기획팀</dc:creator>
  <cp:lastModifiedBy>유석 권</cp:lastModifiedBy>
  <cp:revision>3</cp:revision>
  <dcterms:created xsi:type="dcterms:W3CDTF">2026-01-28T02:54:43Z</dcterms:created>
  <dcterms:modified xsi:type="dcterms:W3CDTF">2026-01-28T10:44:50Z</dcterms:modified>
</cp:coreProperties>
</file>